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1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26547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ยินดีต้อนรับพนักงาน SPBT ทุกท่านเข้าสู่การอบรมหลักสูตร Service Mind: หัวใจสำคัญของ True Gemba Centricity วันนี้เราจะมาทำความเข้าใจร่วมกันว่า จิตบริการที่ยอดเยี่ยมจะช่วยให้เราบรรลุวิสัยทัศน์องค์กรและเติบโตไปด้วยกันได้อย่างไร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ในสไลด์นี้เราจะขยายความถึงความเชื่อมโยงระหว่างจิตบริการกับแนวคิด Gemba Centricity ซึ่งหน้างานหรือจุดขายคือจุดยุทธศาสตร์สำคัญที่สุดของเราในฐานะบริษัทเครื่องดื่มระดับโลก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ค่านิยมหลักของ Suntory PepsiCo ทั้ง 3 ตัว คือเข็มทิศในการแสดงออกด้าน Service Mind ของเราทุกคน ตั้งแต่การสร้างความสัมพันธ์ การริเริ่มแก้ปัญหา ไปจนถึงการรับผิดชอบต่อสังคม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เราได้กำหนดกรอบแนวคิด S-E-R-V-I-C-E เพื่อให้พนักงานทุกคนจำได้ง่ายและนำไปใช้จริงในการปฏิบัติงานในทุกๆ วัน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การแปลงความรู้เรื่อง Service Mind ไปใช้จริงแบ่งออกเป็น 3 ช่วงคือ ก่อน ระหว่าง และหลังการบริการ เพื่อให้เราเตรียมพร้อมและเรียนรู้อย่างต่อเนื่อง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สุดท้ายนี้ ขอฝากคำขวัญร่วมสร้างความสำเร็จ และผลักดันจิตบริการ ณ หน้างานในทุกๆ วัน เพื่อการเติบโตอย่างยั่งยืนของพวกเราทุกคนและคู่ค้า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31520" y="731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Noto Sans Thai" panose="020B0502040504020204" pitchFamily="34" charset="-34"/>
                <a:ea typeface="Cambria" pitchFamily="34" charset="-122"/>
                <a:cs typeface="Noto Sans Thai" panose="020B0502040504020204" pitchFamily="34" charset="-34"/>
              </a:rPr>
              <a:t>SUNTORY PEPSICO BEVERAGE (THAILAND)</a:t>
            </a:r>
            <a:endParaRPr lang="en-US" sz="1400" dirty="0">
              <a:solidFill>
                <a:schemeClr val="accent1"/>
              </a:solidFill>
              <a:latin typeface="Noto Sans Thai" panose="020B0502040504020204" pitchFamily="34" charset="-34"/>
              <a:cs typeface="Noto Sans Thai" panose="020B0502040504020204" pitchFamily="34" charset="-34"/>
            </a:endParaRPr>
          </a:p>
        </p:txBody>
      </p:sp>
      <p:sp>
        <p:nvSpPr>
          <p:cNvPr id="4" name="Text 1"/>
          <p:cNvSpPr/>
          <p:nvPr/>
        </p:nvSpPr>
        <p:spPr>
          <a:xfrm>
            <a:off x="731520" y="146304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chemeClr val="accent1"/>
                </a:solidFill>
                <a:latin typeface="Noto Sans Thai" panose="020B0502040504020204" pitchFamily="34" charset="-34"/>
                <a:ea typeface="Cambria" pitchFamily="34" charset="-122"/>
                <a:cs typeface="Noto Sans Thai" panose="020B0502040504020204" pitchFamily="34" charset="-34"/>
              </a:rPr>
              <a:t>SERVICE MIND</a:t>
            </a:r>
            <a:endParaRPr lang="en-US" sz="4800" dirty="0">
              <a:solidFill>
                <a:schemeClr val="accent1"/>
              </a:solidFill>
              <a:latin typeface="Noto Sans Thai" panose="020B0502040504020204" pitchFamily="34" charset="-34"/>
              <a:cs typeface="Noto Sans Thai" panose="020B0502040504020204" pitchFamily="34" charset="-34"/>
            </a:endParaRPr>
          </a:p>
        </p:txBody>
      </p:sp>
      <p:sp>
        <p:nvSpPr>
          <p:cNvPr id="5" name="Text 2"/>
          <p:cNvSpPr/>
          <p:nvPr/>
        </p:nvSpPr>
        <p:spPr>
          <a:xfrm>
            <a:off x="731520" y="246888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1"/>
                </a:solidFill>
                <a:latin typeface="Noto Sans Thai" panose="020B0502040504020204" pitchFamily="34" charset="-34"/>
                <a:ea typeface="Cambria" pitchFamily="34" charset="-122"/>
                <a:cs typeface="Noto Sans Thai" panose="020B0502040504020204" pitchFamily="34" charset="-34"/>
              </a:rPr>
              <a:t>หัวใจสำคัญของ True Gemba Centricity</a:t>
            </a:r>
            <a:endParaRPr lang="en-US" sz="2600" dirty="0">
              <a:solidFill>
                <a:schemeClr val="accent1"/>
              </a:solidFill>
              <a:latin typeface="Noto Sans Thai" panose="020B0502040504020204" pitchFamily="34" charset="-34"/>
              <a:cs typeface="Noto Sans Thai" panose="020B0502040504020204" pitchFamily="34" charset="-34"/>
            </a:endParaRPr>
          </a:p>
        </p:txBody>
      </p:sp>
      <p:sp>
        <p:nvSpPr>
          <p:cNvPr id="6" name="Text 3"/>
          <p:cNvSpPr/>
          <p:nvPr/>
        </p:nvSpPr>
        <p:spPr>
          <a:xfrm>
            <a:off x="731520" y="347472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accent1"/>
                </a:solidFill>
                <a:latin typeface="Noto Sans Thai" panose="020B0502040504020204" pitchFamily="34" charset="-34"/>
                <a:ea typeface="Calibri" pitchFamily="34" charset="-122"/>
                <a:cs typeface="Noto Sans Thai" panose="020B0502040504020204" pitchFamily="34" charset="-34"/>
              </a:rPr>
              <a:t>หลักสูตรพัฒนาจิตบริการและการทำงานเชิงรุก เพื่อการเติบโตอย่างยั่งยืนของพนักงาน SPBT</a:t>
            </a:r>
            <a:endParaRPr lang="en-US" sz="1600" dirty="0">
              <a:solidFill>
                <a:schemeClr val="accent1"/>
              </a:solidFill>
              <a:latin typeface="Noto Sans Thai" panose="020B0502040504020204" pitchFamily="34" charset="-34"/>
              <a:cs typeface="Noto Sans Thai" panose="020B0502040504020204" pitchFamily="34" charset="-34"/>
            </a:endParaRPr>
          </a:p>
        </p:txBody>
      </p:sp>
      <p:sp>
        <p:nvSpPr>
          <p:cNvPr id="7" name="Text 4"/>
          <p:cNvSpPr/>
          <p:nvPr/>
        </p:nvSpPr>
        <p:spPr>
          <a:xfrm>
            <a:off x="731520" y="5669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1"/>
                </a:solidFill>
                <a:latin typeface="Noto Sans Thai" panose="020B0502040504020204" pitchFamily="34" charset="-34"/>
                <a:ea typeface="Calibri" pitchFamily="34" charset="-122"/>
                <a:cs typeface="Noto Sans Thai" panose="020B0502040504020204" pitchFamily="34" charset="-34"/>
              </a:rPr>
              <a:t>Human Resources Development Team</a:t>
            </a:r>
            <a:endParaRPr lang="en-US" sz="1100" dirty="0">
              <a:solidFill>
                <a:schemeClr val="accent1"/>
              </a:solidFill>
              <a:latin typeface="Noto Sans Thai" panose="020B0502040504020204" pitchFamily="34" charset="-34"/>
              <a:cs typeface="Noto Sans Thai" panose="020B0502040504020204" pitchFamily="34" charset="-34"/>
            </a:endParaRPr>
          </a:p>
        </p:txBody>
      </p:sp>
      <p:pic>
        <p:nvPicPr>
          <p:cNvPr id="9" name="Image 0" descr="h:/AGV Project/assets/title_her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143000"/>
            <a:ext cx="4389120" cy="43891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766560" y="562356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718096"/>
                </a:solidFill>
                <a:latin typeface="Noto Sans Thai" panose="020B0502040504020204" pitchFamily="34" charset="-34"/>
                <a:ea typeface="Calibri" pitchFamily="34" charset="-122"/>
                <a:cs typeface="Noto Sans Thai" panose="020B0502040504020204" pitchFamily="34" charset="-34"/>
              </a:rPr>
              <a:t>Suntory PepsiCo Service Spirit</a:t>
            </a:r>
            <a:endParaRPr lang="en-US" sz="1400" dirty="0">
              <a:latin typeface="Noto Sans Thai" panose="020B0502040504020204" pitchFamily="34" charset="-34"/>
              <a:cs typeface="Noto Sans Thai" panose="020B0502040504020204" pitchFamily="34" charset="-3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2F6C"/>
                </a:solidFill>
                <a:latin typeface="Noto Sans Thai" panose="020B0502040504020204" pitchFamily="34" charset="-34"/>
                <a:ea typeface="Cambria" pitchFamily="34" charset="-122"/>
                <a:cs typeface="Noto Sans Thai" panose="020B0502040504020204" pitchFamily="34" charset="-34"/>
              </a:rPr>
              <a:t>Service Mind กับ True Gemba Centricity</a:t>
            </a:r>
            <a:endParaRPr lang="en-US" sz="2800" dirty="0">
              <a:latin typeface="Noto Sans Thai" panose="020B0502040504020204" pitchFamily="34" charset="-34"/>
              <a:cs typeface="Noto Sans Thai" panose="020B0502040504020204" pitchFamily="34" charset="-34"/>
            </a:endParaRPr>
          </a:p>
        </p:txBody>
      </p:sp>
      <p:sp>
        <p:nvSpPr>
          <p:cNvPr id="4" name="Shape 1"/>
          <p:cNvSpPr/>
          <p:nvPr/>
        </p:nvSpPr>
        <p:spPr>
          <a:xfrm>
            <a:off x="731520" y="1371600"/>
            <a:ext cx="5852160" cy="2377440"/>
          </a:xfrm>
          <a:prstGeom prst="roundRect">
            <a:avLst>
              <a:gd name="adj" fmla="val 1923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th-TH">
              <a:latin typeface="Noto Sans Thai" panose="020B0502040504020204" pitchFamily="34" charset="-34"/>
              <a:cs typeface="Noto Sans Thai" panose="020B0502040504020204" pitchFamily="34" charset="-34"/>
            </a:endParaRPr>
          </a:p>
        </p:txBody>
      </p:sp>
      <p:sp>
        <p:nvSpPr>
          <p:cNvPr id="5" name="Text 2"/>
          <p:cNvSpPr/>
          <p:nvPr/>
        </p:nvSpPr>
        <p:spPr>
          <a:xfrm>
            <a:off x="914400" y="1554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2F6C"/>
                </a:solidFill>
                <a:latin typeface="Noto Sans Thai" panose="020B0502040504020204" pitchFamily="34" charset="-34"/>
                <a:ea typeface="Cambria" pitchFamily="34" charset="-122"/>
                <a:cs typeface="Noto Sans Thai" panose="020B0502040504020204" pitchFamily="34" charset="-34"/>
              </a:rPr>
              <a:t>ทำไมพนักงาน SPBT ต้องมี Service Mind?</a:t>
            </a:r>
            <a:endParaRPr lang="en-US" sz="1800" dirty="0">
              <a:latin typeface="Noto Sans Thai" panose="020B0502040504020204" pitchFamily="34" charset="-34"/>
              <a:cs typeface="Noto Sans Thai" panose="020B0502040504020204" pitchFamily="34" charset="-34"/>
            </a:endParaRPr>
          </a:p>
        </p:txBody>
      </p:sp>
      <p:sp>
        <p:nvSpPr>
          <p:cNvPr id="6" name="Text 3"/>
          <p:cNvSpPr/>
          <p:nvPr/>
        </p:nvSpPr>
        <p:spPr>
          <a:xfrm>
            <a:off x="914400" y="201168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Noto Sans Thai" panose="020B0502040504020204" pitchFamily="34" charset="-34"/>
                <a:ea typeface="Calibri" pitchFamily="34" charset="-122"/>
                <a:cs typeface="Noto Sans Thai" panose="020B0502040504020204" pitchFamily="34" charset="-34"/>
              </a:rPr>
              <a:t>• สะท้อนภาพลักษณ์แบรนด์: สร้างความไว้วางใจ ในแบรนด์ Pepsi, TEA+, Gatorade</a:t>
            </a:r>
            <a:endParaRPr lang="en-US" sz="1300" dirty="0">
              <a:latin typeface="Noto Sans Thai" panose="020B0502040504020204" pitchFamily="34" charset="-34"/>
              <a:cs typeface="Noto Sans Thai" panose="020B0502040504020204" pitchFamily="34" charset="-34"/>
            </a:endParaRPr>
          </a:p>
          <a:p>
            <a:pPr marL="0" indent="0">
              <a:buNone/>
            </a:pPr>
            <a:endParaRPr lang="en-US" sz="1300" dirty="0">
              <a:latin typeface="Noto Sans Thai" panose="020B0502040504020204" pitchFamily="34" charset="-34"/>
              <a:cs typeface="Noto Sans Thai" panose="020B0502040504020204" pitchFamily="34" charset="-34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Noto Sans Thai" panose="020B0502040504020204" pitchFamily="34" charset="-34"/>
                <a:ea typeface="Calibri" pitchFamily="34" charset="-122"/>
                <a:cs typeface="Noto Sans Thai" panose="020B0502040504020204" pitchFamily="34" charset="-34"/>
              </a:rPr>
              <a:t>• ส่งมอบความพึงพอใจสูงสุด: บริการถูกต้อง รวดเร็ว และสดชื่น ในทุกช่องทางขาย</a:t>
            </a:r>
            <a:endParaRPr lang="en-US" sz="1300" dirty="0">
              <a:latin typeface="Noto Sans Thai" panose="020B0502040504020204" pitchFamily="34" charset="-34"/>
              <a:cs typeface="Noto Sans Thai" panose="020B0502040504020204" pitchFamily="34" charset="-34"/>
            </a:endParaRPr>
          </a:p>
          <a:p>
            <a:pPr marL="0" indent="0">
              <a:buNone/>
            </a:pPr>
            <a:endParaRPr lang="en-US" sz="1300" dirty="0">
              <a:latin typeface="Noto Sans Thai" panose="020B0502040504020204" pitchFamily="34" charset="-34"/>
              <a:cs typeface="Noto Sans Thai" panose="020B0502040504020204" pitchFamily="34" charset="-34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Noto Sans Thai" panose="020B0502040504020204" pitchFamily="34" charset="-34"/>
                <a:ea typeface="Calibri" pitchFamily="34" charset="-122"/>
                <a:cs typeface="Noto Sans Thai" panose="020B0502040504020204" pitchFamily="34" charset="-34"/>
              </a:rPr>
              <a:t>• เติบโตร่วมกันอย่างยั่งยืน: เปลี่ยนร้านค้าคู่ค้า เป็นพันธมิตรระยะยาว (Growing for Good)</a:t>
            </a:r>
            <a:endParaRPr lang="en-US" sz="1300" dirty="0">
              <a:latin typeface="Noto Sans Thai" panose="020B0502040504020204" pitchFamily="34" charset="-34"/>
              <a:cs typeface="Noto Sans Thai" panose="020B0502040504020204" pitchFamily="34" charset="-34"/>
            </a:endParaRPr>
          </a:p>
        </p:txBody>
      </p:sp>
      <p:sp>
        <p:nvSpPr>
          <p:cNvPr id="7" name="Shape 4"/>
          <p:cNvSpPr/>
          <p:nvPr/>
        </p:nvSpPr>
        <p:spPr>
          <a:xfrm>
            <a:off x="731520" y="3931920"/>
            <a:ext cx="5852160" cy="2377440"/>
          </a:xfrm>
          <a:prstGeom prst="roundRect">
            <a:avLst>
              <a:gd name="adj" fmla="val 1923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th-TH">
              <a:latin typeface="Noto Sans Thai" panose="020B0502040504020204" pitchFamily="34" charset="-34"/>
              <a:cs typeface="Noto Sans Thai" panose="020B0502040504020204" pitchFamily="34" charset="-34"/>
            </a:endParaRPr>
          </a:p>
        </p:txBody>
      </p:sp>
      <p:sp>
        <p:nvSpPr>
          <p:cNvPr id="8" name="Text 5"/>
          <p:cNvSpPr/>
          <p:nvPr/>
        </p:nvSpPr>
        <p:spPr>
          <a:xfrm>
            <a:off x="914400" y="4114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2F6C"/>
                </a:solidFill>
                <a:latin typeface="Noto Sans Thai" panose="020B0502040504020204" pitchFamily="34" charset="-34"/>
                <a:ea typeface="Cambria" pitchFamily="34" charset="-122"/>
                <a:cs typeface="Noto Sans Thai" panose="020B0502040504020204" pitchFamily="34" charset="-34"/>
              </a:rPr>
              <a:t>True Gemba Centricity (ยึดหน้างานเป็นศูนย์กลาง)</a:t>
            </a:r>
            <a:endParaRPr lang="en-US" sz="1800" dirty="0">
              <a:latin typeface="Noto Sans Thai" panose="020B0502040504020204" pitchFamily="34" charset="-34"/>
              <a:cs typeface="Noto Sans Thai" panose="020B0502040504020204" pitchFamily="34" charset="-34"/>
            </a:endParaRPr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Noto Sans Thai" panose="020B0502040504020204" pitchFamily="34" charset="-34"/>
                <a:ea typeface="Calibri" pitchFamily="34" charset="-122"/>
                <a:cs typeface="Noto Sans Thai" panose="020B0502040504020204" pitchFamily="34" charset="-34"/>
              </a:rPr>
              <a:t>• เข้าใจหน้างานจริง: ลงพื้นที่เพื่อ รับฟัง สังเกต และเข้าใจ ความต้องการของร้านค้า</a:t>
            </a:r>
            <a:endParaRPr lang="en-US" sz="1300" dirty="0">
              <a:latin typeface="Noto Sans Thai" panose="020B0502040504020204" pitchFamily="34" charset="-34"/>
              <a:cs typeface="Noto Sans Thai" panose="020B0502040504020204" pitchFamily="34" charset="-34"/>
            </a:endParaRPr>
          </a:p>
          <a:p>
            <a:pPr marL="0" indent="0">
              <a:buNone/>
            </a:pPr>
            <a:endParaRPr lang="en-US" sz="1300" dirty="0">
              <a:latin typeface="Noto Sans Thai" panose="020B0502040504020204" pitchFamily="34" charset="-34"/>
              <a:cs typeface="Noto Sans Thai" panose="020B0502040504020204" pitchFamily="34" charset="-34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Noto Sans Thai" panose="020B0502040504020204" pitchFamily="34" charset="-34"/>
                <a:ea typeface="Calibri" pitchFamily="34" charset="-122"/>
                <a:cs typeface="Noto Sans Thai" panose="020B0502040504020204" pitchFamily="34" charset="-34"/>
              </a:rPr>
              <a:t>• การตอบสนองที่ฉับไว: แก้ไขปัญหาเฉพาะหน้า อย่างเป็นระบบ และตรงจุดทันที</a:t>
            </a:r>
            <a:endParaRPr lang="en-US" sz="1300" dirty="0">
              <a:latin typeface="Noto Sans Thai" panose="020B0502040504020204" pitchFamily="34" charset="-34"/>
              <a:cs typeface="Noto Sans Thai" panose="020B0502040504020204" pitchFamily="34" charset="-34"/>
            </a:endParaRPr>
          </a:p>
          <a:p>
            <a:pPr marL="0" indent="0">
              <a:buNone/>
            </a:pPr>
            <a:endParaRPr lang="en-US" sz="1300" dirty="0">
              <a:latin typeface="Noto Sans Thai" panose="020B0502040504020204" pitchFamily="34" charset="-34"/>
              <a:cs typeface="Noto Sans Thai" panose="020B0502040504020204" pitchFamily="34" charset="-34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Noto Sans Thai" panose="020B0502040504020204" pitchFamily="34" charset="-34"/>
                <a:ea typeface="Calibri" pitchFamily="34" charset="-122"/>
                <a:cs typeface="Noto Sans Thai" panose="020B0502040504020204" pitchFamily="34" charset="-34"/>
              </a:rPr>
              <a:t>• พัฒนาต่อเนื่องเพื่อความเป็นเลิศ: นำข้อคิดเห็นจากหน้างาน มาปรับปรุงการบริการเสมอ</a:t>
            </a:r>
            <a:endParaRPr lang="en-US" sz="1300" dirty="0">
              <a:latin typeface="Noto Sans Thai" panose="020B0502040504020204" pitchFamily="34" charset="-34"/>
              <a:cs typeface="Noto Sans Thai" panose="020B0502040504020204" pitchFamily="34" charset="-34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6858000" y="1371600"/>
            <a:ext cx="4572000" cy="4937760"/>
          </a:xfrm>
          <a:prstGeom prst="roundRect">
            <a:avLst>
              <a:gd name="adj" fmla="val 1000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th-TH"/>
          </a:p>
        </p:txBody>
      </p:sp>
      <p:pic>
        <p:nvPicPr>
          <p:cNvPr id="11" name="Image 0" descr="h:/AGV Project/assets/gemba_interactio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0" y="1508760"/>
            <a:ext cx="4297680" cy="42976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858000" y="5852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18096"/>
                </a:solidFill>
                <a:latin typeface="Noto Sans Thai" panose="020B0502040504020204" pitchFamily="34" charset="-34"/>
                <a:ea typeface="Calibri" pitchFamily="34" charset="-122"/>
                <a:cs typeface="Noto Sans Thai" panose="020B0502040504020204" pitchFamily="34" charset="-34"/>
              </a:rPr>
              <a:t>การลงพื้นที่เพื่อช่วยเหลือคู่ค้า ณ หน้างาน (Gemba)</a:t>
            </a:r>
            <a:endParaRPr lang="en-US" sz="1100" dirty="0">
              <a:latin typeface="Noto Sans Thai" panose="020B0502040504020204" pitchFamily="34" charset="-34"/>
              <a:cs typeface="Noto Sans Thai" panose="020B0502040504020204" pitchFamily="34" charset="-3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2F6C"/>
                </a:solidFill>
                <a:latin typeface="Noto Sans Thai" panose="020B0502040504020204" pitchFamily="34" charset="-34"/>
                <a:ea typeface="Cambria" pitchFamily="34" charset="-122"/>
                <a:cs typeface="Noto Sans Thai" panose="020B0502040504020204" pitchFamily="34" charset="-34"/>
              </a:rPr>
              <a:t>Core Values ที่ขับเคลื่อนจิตบริการ</a:t>
            </a:r>
            <a:endParaRPr lang="en-US" sz="2800" dirty="0">
              <a:latin typeface="Noto Sans Thai" panose="020B0502040504020204" pitchFamily="34" charset="-34"/>
              <a:cs typeface="Noto Sans Thai" panose="020B0502040504020204" pitchFamily="34" charset="-34"/>
            </a:endParaRPr>
          </a:p>
        </p:txBody>
      </p:sp>
      <p:sp>
        <p:nvSpPr>
          <p:cNvPr id="4" name="Shape 1"/>
          <p:cNvSpPr/>
          <p:nvPr/>
        </p:nvSpPr>
        <p:spPr>
          <a:xfrm>
            <a:off x="731520" y="1463040"/>
            <a:ext cx="3383280" cy="4389120"/>
          </a:xfrm>
          <a:prstGeom prst="roundRect">
            <a:avLst>
              <a:gd name="adj" fmla="val 1351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th-TH">
              <a:latin typeface="Noto Sans Thai" panose="020B0502040504020204" pitchFamily="34" charset="-34"/>
              <a:cs typeface="Noto Sans Thai" panose="020B0502040504020204" pitchFamily="34" charset="-34"/>
            </a:endParaRPr>
          </a:p>
        </p:txBody>
      </p:sp>
      <p:sp>
        <p:nvSpPr>
          <p:cNvPr id="5" name="Text 2"/>
          <p:cNvSpPr/>
          <p:nvPr/>
        </p:nvSpPr>
        <p:spPr>
          <a:xfrm>
            <a:off x="1005840" y="17373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4B87"/>
                </a:solidFill>
                <a:latin typeface="Noto Sans Thai" panose="020B0502040504020204" pitchFamily="34" charset="-34"/>
                <a:ea typeface="Cambria" pitchFamily="34" charset="-122"/>
                <a:cs typeface="Noto Sans Thai" panose="020B0502040504020204" pitchFamily="34" charset="-34"/>
              </a:rPr>
              <a:t>Growing for Good</a:t>
            </a:r>
            <a:endParaRPr lang="en-US" sz="2000" dirty="0">
              <a:latin typeface="Noto Sans Thai" panose="020B0502040504020204" pitchFamily="34" charset="-34"/>
              <a:cs typeface="Noto Sans Thai" panose="020B0502040504020204" pitchFamily="34" charset="-34"/>
            </a:endParaRPr>
          </a:p>
        </p:txBody>
      </p:sp>
      <p:sp>
        <p:nvSpPr>
          <p:cNvPr id="6" name="Text 3"/>
          <p:cNvSpPr/>
          <p:nvPr/>
        </p:nvSpPr>
        <p:spPr>
          <a:xfrm>
            <a:off x="1005840" y="21031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31837"/>
                </a:solidFill>
                <a:latin typeface="Noto Sans Thai" panose="020B0502040504020204" pitchFamily="34" charset="-34"/>
                <a:ea typeface="Cambria" pitchFamily="34" charset="-122"/>
                <a:cs typeface="Noto Sans Thai" panose="020B0502040504020204" pitchFamily="34" charset="-34"/>
              </a:rPr>
              <a:t>เติบโตอย่างยั่งยืน</a:t>
            </a:r>
            <a:endParaRPr lang="en-US" sz="1400" dirty="0">
              <a:latin typeface="Noto Sans Thai" panose="020B0502040504020204" pitchFamily="34" charset="-34"/>
              <a:cs typeface="Noto Sans Thai" panose="020B0502040504020204" pitchFamily="34" charset="-34"/>
            </a:endParaRPr>
          </a:p>
        </p:txBody>
      </p:sp>
      <p:sp>
        <p:nvSpPr>
          <p:cNvPr id="7" name="Text 4"/>
          <p:cNvSpPr/>
          <p:nvPr/>
        </p:nvSpPr>
        <p:spPr>
          <a:xfrm>
            <a:off x="1005840" y="2560320"/>
            <a:ext cx="28346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  <a:latin typeface="Noto Sans Thai" panose="020B0502040504020204" pitchFamily="34" charset="-34"/>
                <a:ea typeface="Calibri" pitchFamily="34" charset="-122"/>
                <a:cs typeface="Noto Sans Thai" panose="020B0502040504020204" pitchFamily="34" charset="-34"/>
              </a:rPr>
              <a:t>มุ่งเน้นการบริการ ที่ซื่อสัตย์ จริงใจ เพื่อสร้างความไว้วางใจ และพันธมิตรทางธุรกิจ ในระยะยาว เติบโตไปพร้อมกับลูกค้า ชุมชน และสังคมอย่างเกื้อกูล</a:t>
            </a:r>
            <a:endParaRPr lang="en-US" sz="1400" dirty="0">
              <a:latin typeface="Noto Sans Thai" panose="020B0502040504020204" pitchFamily="34" charset="-34"/>
              <a:cs typeface="Noto Sans Thai" panose="020B0502040504020204" pitchFamily="34" charset="-34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389120" y="1463040"/>
            <a:ext cx="3383280" cy="4389120"/>
          </a:xfrm>
          <a:prstGeom prst="roundRect">
            <a:avLst>
              <a:gd name="adj" fmla="val 1351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th-TH">
              <a:latin typeface="Noto Sans Thai" panose="020B0502040504020204" pitchFamily="34" charset="-34"/>
              <a:cs typeface="Noto Sans Thai" panose="020B0502040504020204" pitchFamily="34" charset="-34"/>
            </a:endParaRPr>
          </a:p>
        </p:txBody>
      </p:sp>
      <p:sp>
        <p:nvSpPr>
          <p:cNvPr id="9" name="Text 6"/>
          <p:cNvSpPr/>
          <p:nvPr/>
        </p:nvSpPr>
        <p:spPr>
          <a:xfrm>
            <a:off x="4663440" y="17373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4B87"/>
                </a:solidFill>
                <a:latin typeface="Noto Sans Thai" panose="020B0502040504020204" pitchFamily="34" charset="-34"/>
                <a:ea typeface="Cambria" pitchFamily="34" charset="-122"/>
                <a:cs typeface="Noto Sans Thai" panose="020B0502040504020204" pitchFamily="34" charset="-34"/>
              </a:rPr>
              <a:t>Yatte Minahare</a:t>
            </a:r>
            <a:endParaRPr lang="en-US" sz="2000" dirty="0">
              <a:latin typeface="Noto Sans Thai" panose="020B0502040504020204" pitchFamily="34" charset="-34"/>
              <a:cs typeface="Noto Sans Thai" panose="020B0502040504020204" pitchFamily="34" charset="-34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663440" y="21031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31837"/>
                </a:solidFill>
                <a:latin typeface="Noto Sans Thai" panose="020B0502040504020204" pitchFamily="34" charset="-34"/>
                <a:ea typeface="Cambria" pitchFamily="34" charset="-122"/>
                <a:cs typeface="Noto Sans Thai" panose="020B0502040504020204" pitchFamily="34" charset="-34"/>
              </a:rPr>
              <a:t>กล้าคิด กล้าทำ กล้าท้าทาย</a:t>
            </a:r>
            <a:endParaRPr lang="en-US" sz="1400" dirty="0">
              <a:latin typeface="Noto Sans Thai" panose="020B0502040504020204" pitchFamily="34" charset="-34"/>
              <a:cs typeface="Noto Sans Thai" panose="020B0502040504020204" pitchFamily="34" charset="-34"/>
            </a:endParaRPr>
          </a:p>
        </p:txBody>
      </p:sp>
      <p:sp>
        <p:nvSpPr>
          <p:cNvPr id="11" name="Text 8"/>
          <p:cNvSpPr/>
          <p:nvPr/>
        </p:nvSpPr>
        <p:spPr>
          <a:xfrm>
            <a:off x="4663440" y="2560320"/>
            <a:ext cx="28346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  <a:latin typeface="Noto Sans Thai" panose="020B0502040504020204" pitchFamily="34" charset="-34"/>
                <a:ea typeface="Calibri" pitchFamily="34" charset="-122"/>
                <a:cs typeface="Noto Sans Thai" panose="020B0502040504020204" pitchFamily="34" charset="-34"/>
              </a:rPr>
              <a:t>แสดงจิตบริการเชิงรุก (Proactive Service) ค้นหาแนวทาง แก้ไขปัญหาให้แก่ ร้านค้าคู่ค้า โดยไม่ต้องรอคำสั่ง และมุ่งมั่นส่งมอบ บริการที่เกิน ความคาดหวังเสมอ</a:t>
            </a:r>
            <a:endParaRPr lang="en-US" sz="1400" dirty="0">
              <a:latin typeface="Noto Sans Thai" panose="020B0502040504020204" pitchFamily="34" charset="-34"/>
              <a:cs typeface="Noto Sans Thai" panose="020B0502040504020204" pitchFamily="34" charset="-34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8046720" y="1463040"/>
            <a:ext cx="3383280" cy="4389120"/>
          </a:xfrm>
          <a:prstGeom prst="roundRect">
            <a:avLst>
              <a:gd name="adj" fmla="val 1351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th-TH">
              <a:latin typeface="Noto Sans Thai" panose="020B0502040504020204" pitchFamily="34" charset="-34"/>
              <a:cs typeface="Noto Sans Thai" panose="020B0502040504020204" pitchFamily="34" charset="-34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8321039" y="1737360"/>
            <a:ext cx="301940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4B87"/>
                </a:solidFill>
                <a:latin typeface="Noto Sans Thai" panose="020B0502040504020204" pitchFamily="34" charset="-34"/>
                <a:ea typeface="Cambria" pitchFamily="34" charset="-122"/>
                <a:cs typeface="Noto Sans Thai" panose="020B0502040504020204" pitchFamily="34" charset="-34"/>
              </a:rPr>
              <a:t>Giving Back to Society</a:t>
            </a:r>
            <a:endParaRPr lang="en-US" sz="2000" dirty="0">
              <a:latin typeface="Noto Sans Thai" panose="020B0502040504020204" pitchFamily="34" charset="-34"/>
              <a:cs typeface="Noto Sans Thai" panose="020B0502040504020204" pitchFamily="34" charset="-34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8321040" y="21031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31837"/>
                </a:solidFill>
                <a:latin typeface="Noto Sans Thai" panose="020B0502040504020204" pitchFamily="34" charset="-34"/>
                <a:ea typeface="Cambria" pitchFamily="34" charset="-122"/>
                <a:cs typeface="Noto Sans Thai" panose="020B0502040504020204" pitchFamily="34" charset="-34"/>
              </a:rPr>
              <a:t>ตอบแทนสิ่งดี ๆ สู่สังคม</a:t>
            </a:r>
            <a:endParaRPr lang="en-US" sz="1400" dirty="0">
              <a:latin typeface="Noto Sans Thai" panose="020B0502040504020204" pitchFamily="34" charset="-34"/>
              <a:cs typeface="Noto Sans Thai" panose="020B0502040504020204" pitchFamily="34" charset="-34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8321040" y="2560320"/>
            <a:ext cx="28346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  <a:latin typeface="Noto Sans Thai" panose="020B0502040504020204" pitchFamily="34" charset="-34"/>
                <a:ea typeface="Calibri" pitchFamily="34" charset="-122"/>
                <a:cs typeface="Noto Sans Thai" panose="020B0502040504020204" pitchFamily="34" charset="-34"/>
              </a:rPr>
              <a:t>ให้บริการด้วย ความรับผิดชอบ คำนึงถึงความปลอดภัย สุขภาพของผู้บริโภค และความยั่งยืน ของสิ่งแวดล้อม เป็นที่ตั้งในทุกๆ จุดปฏิบัติงาน</a:t>
            </a:r>
            <a:endParaRPr lang="en-US" sz="1400" dirty="0">
              <a:latin typeface="Noto Sans Thai" panose="020B0502040504020204" pitchFamily="34" charset="-34"/>
              <a:cs typeface="Noto Sans Thai" panose="020B0502040504020204" pitchFamily="34" charset="-3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2F6C"/>
                </a:solidFill>
                <a:latin typeface="Noto Sans Thai" panose="020B0502040504020204" pitchFamily="34" charset="-34"/>
                <a:ea typeface="Noto Sans" panose="020B0502040504020204" pitchFamily="34" charset="0"/>
                <a:cs typeface="Noto Sans Thai" panose="020B0502040504020204" pitchFamily="34" charset="-34"/>
              </a:rPr>
              <a:t>SPBT S-E-R-V-I-C-E Framework</a:t>
            </a:r>
            <a:endParaRPr lang="en-US" sz="2800" dirty="0">
              <a:latin typeface="Noto Sans Thai" panose="020B0502040504020204" pitchFamily="34" charset="-34"/>
              <a:ea typeface="Noto Sans" panose="020B0502040504020204" pitchFamily="34" charset="0"/>
              <a:cs typeface="Noto Sans Thai" panose="020B0502040504020204" pitchFamily="34" charset="-34"/>
            </a:endParaRPr>
          </a:p>
        </p:txBody>
      </p:sp>
      <p:sp>
        <p:nvSpPr>
          <p:cNvPr id="4" name="Shape 1"/>
          <p:cNvSpPr/>
          <p:nvPr/>
        </p:nvSpPr>
        <p:spPr>
          <a:xfrm>
            <a:off x="731520" y="1463040"/>
            <a:ext cx="2468880" cy="2011680"/>
          </a:xfrm>
          <a:prstGeom prst="roundRect">
            <a:avLst>
              <a:gd name="adj" fmla="val 2273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th-TH">
              <a:latin typeface="Noto Sans Thai" panose="020B0502040504020204" pitchFamily="34" charset="-34"/>
              <a:ea typeface="Noto Sans" panose="020B0502040504020204" pitchFamily="34" charset="0"/>
              <a:cs typeface="Noto Sans Thai" panose="020B0502040504020204" pitchFamily="34" charset="-34"/>
            </a:endParaRPr>
          </a:p>
        </p:txBody>
      </p:sp>
      <p:sp>
        <p:nvSpPr>
          <p:cNvPr id="5" name="Text 2"/>
          <p:cNvSpPr/>
          <p:nvPr/>
        </p:nvSpPr>
        <p:spPr>
          <a:xfrm>
            <a:off x="914400" y="15544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31837"/>
                </a:solidFill>
                <a:latin typeface="Noto Sans Thai" panose="020B0502040504020204" pitchFamily="34" charset="-34"/>
                <a:ea typeface="Noto Sans" panose="020B0502040504020204" pitchFamily="34" charset="0"/>
                <a:cs typeface="Noto Sans Thai" panose="020B0502040504020204" pitchFamily="34" charset="-34"/>
              </a:rPr>
              <a:t>S</a:t>
            </a:r>
            <a:endParaRPr lang="en-US" sz="2200" dirty="0">
              <a:latin typeface="Noto Sans Thai" panose="020B0502040504020204" pitchFamily="34" charset="-34"/>
              <a:ea typeface="Noto Sans" panose="020B0502040504020204" pitchFamily="34" charset="0"/>
              <a:cs typeface="Noto Sans Thai" panose="020B0502040504020204" pitchFamily="34" charset="-34"/>
            </a:endParaRPr>
          </a:p>
        </p:txBody>
      </p:sp>
      <p:sp>
        <p:nvSpPr>
          <p:cNvPr id="6" name="Text 3"/>
          <p:cNvSpPr/>
          <p:nvPr/>
        </p:nvSpPr>
        <p:spPr>
          <a:xfrm>
            <a:off x="1463039" y="1554480"/>
            <a:ext cx="1636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2F6C"/>
                </a:solidFill>
                <a:latin typeface="Noto Sans Thai" panose="020B0502040504020204" pitchFamily="34" charset="-34"/>
                <a:ea typeface="Noto Sans" panose="020B0502040504020204" pitchFamily="34" charset="0"/>
                <a:cs typeface="Noto Sans Thai" panose="020B0502040504020204" pitchFamily="34" charset="-34"/>
              </a:rPr>
              <a:t>Smile &amp; Spirit</a:t>
            </a:r>
            <a:endParaRPr lang="en-US" sz="1600" dirty="0">
              <a:latin typeface="Noto Sans Thai" panose="020B0502040504020204" pitchFamily="34" charset="-34"/>
              <a:ea typeface="Noto Sans" panose="020B0502040504020204" pitchFamily="34" charset="0"/>
              <a:cs typeface="Noto Sans Thai" panose="020B0502040504020204" pitchFamily="34" charset="-34"/>
            </a:endParaRPr>
          </a:p>
        </p:txBody>
      </p:sp>
      <p:sp>
        <p:nvSpPr>
          <p:cNvPr id="7" name="Text 4"/>
          <p:cNvSpPr/>
          <p:nvPr/>
        </p:nvSpPr>
        <p:spPr>
          <a:xfrm>
            <a:off x="914400" y="201168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Noto Sans Thai" panose="020B0502040504020204" pitchFamily="34" charset="-34"/>
                <a:ea typeface="Noto Sans" panose="020B0502040504020204" pitchFamily="34" charset="0"/>
                <a:cs typeface="Noto Sans Thai" panose="020B0502040504020204" pitchFamily="34" charset="-34"/>
              </a:rPr>
              <a:t>ยิ้มแย้ม แจ่มใส และมีพลังบวกในการปฏิบัติหน้าที่และส่งมอบความสดชื่น</a:t>
            </a:r>
            <a:endParaRPr lang="en-US" sz="1200" dirty="0">
              <a:latin typeface="Noto Sans Thai" panose="020B0502040504020204" pitchFamily="34" charset="-34"/>
              <a:ea typeface="Noto Sans" panose="020B0502040504020204" pitchFamily="34" charset="0"/>
              <a:cs typeface="Noto Sans Thai" panose="020B0502040504020204" pitchFamily="34" charset="-34"/>
            </a:endParaRPr>
          </a:p>
        </p:txBody>
      </p:sp>
      <p:sp>
        <p:nvSpPr>
          <p:cNvPr id="8" name="Shape 5"/>
          <p:cNvSpPr/>
          <p:nvPr/>
        </p:nvSpPr>
        <p:spPr>
          <a:xfrm>
            <a:off x="3474720" y="1463040"/>
            <a:ext cx="2468880" cy="2011680"/>
          </a:xfrm>
          <a:prstGeom prst="roundRect">
            <a:avLst>
              <a:gd name="adj" fmla="val 2273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th-TH">
              <a:latin typeface="Noto Sans Thai" panose="020B0502040504020204" pitchFamily="34" charset="-34"/>
              <a:ea typeface="Noto Sans" panose="020B0502040504020204" pitchFamily="34" charset="0"/>
              <a:cs typeface="Noto Sans Thai" panose="020B0502040504020204" pitchFamily="34" charset="-34"/>
            </a:endParaRPr>
          </a:p>
        </p:txBody>
      </p:sp>
      <p:sp>
        <p:nvSpPr>
          <p:cNvPr id="9" name="Text 6"/>
          <p:cNvSpPr/>
          <p:nvPr/>
        </p:nvSpPr>
        <p:spPr>
          <a:xfrm>
            <a:off x="3657600" y="15544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31837"/>
                </a:solidFill>
                <a:latin typeface="Noto Sans Thai" panose="020B0502040504020204" pitchFamily="34" charset="-34"/>
                <a:ea typeface="Noto Sans" panose="020B0502040504020204" pitchFamily="34" charset="0"/>
                <a:cs typeface="Noto Sans Thai" panose="020B0502040504020204" pitchFamily="34" charset="-34"/>
              </a:rPr>
              <a:t>E</a:t>
            </a:r>
            <a:endParaRPr lang="en-US" sz="2200" dirty="0">
              <a:latin typeface="Noto Sans Thai" panose="020B0502040504020204" pitchFamily="34" charset="-34"/>
              <a:ea typeface="Noto Sans" panose="020B0502040504020204" pitchFamily="34" charset="0"/>
              <a:cs typeface="Noto Sans Thai" panose="020B0502040504020204" pitchFamily="34" charset="-34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206239" y="1554480"/>
            <a:ext cx="1636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2F6C"/>
                </a:solidFill>
                <a:latin typeface="Noto Sans Thai" panose="020B0502040504020204" pitchFamily="34" charset="-34"/>
                <a:ea typeface="Noto Sans" panose="020B0502040504020204" pitchFamily="34" charset="0"/>
                <a:cs typeface="Noto Sans Thai" panose="020B0502040504020204" pitchFamily="34" charset="-34"/>
              </a:rPr>
              <a:t>Empathy</a:t>
            </a:r>
            <a:endParaRPr lang="en-US" sz="1600" dirty="0">
              <a:latin typeface="Noto Sans Thai" panose="020B0502040504020204" pitchFamily="34" charset="-34"/>
              <a:ea typeface="Noto Sans" panose="020B0502040504020204" pitchFamily="34" charset="0"/>
              <a:cs typeface="Noto Sans Thai" panose="020B0502040504020204" pitchFamily="34" charset="-34"/>
            </a:endParaRPr>
          </a:p>
        </p:txBody>
      </p:sp>
      <p:sp>
        <p:nvSpPr>
          <p:cNvPr id="11" name="Text 8"/>
          <p:cNvSpPr/>
          <p:nvPr/>
        </p:nvSpPr>
        <p:spPr>
          <a:xfrm>
            <a:off x="3657600" y="201168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Noto Sans Thai" panose="020B0502040504020204" pitchFamily="34" charset="-34"/>
                <a:ea typeface="Noto Sans" panose="020B0502040504020204" pitchFamily="34" charset="0"/>
                <a:cs typeface="Noto Sans Thai" panose="020B0502040504020204" pitchFamily="34" charset="-34"/>
              </a:rPr>
              <a:t>รับฟังลูกค้าอย่างตั้งใจ เอาใจเขามาใส่ใจเรา เพื่อเข้าใจความต้องการที่แท้จริง</a:t>
            </a:r>
            <a:endParaRPr lang="en-US" sz="1200" dirty="0">
              <a:latin typeface="Noto Sans Thai" panose="020B0502040504020204" pitchFamily="34" charset="-34"/>
              <a:ea typeface="Noto Sans" panose="020B0502040504020204" pitchFamily="34" charset="0"/>
              <a:cs typeface="Noto Sans Thai" panose="020B0502040504020204" pitchFamily="34" charset="-34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6217920" y="1463040"/>
            <a:ext cx="2468880" cy="2011680"/>
          </a:xfrm>
          <a:prstGeom prst="roundRect">
            <a:avLst>
              <a:gd name="adj" fmla="val 2273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th-TH">
              <a:latin typeface="Noto Sans Thai" panose="020B0502040504020204" pitchFamily="34" charset="-34"/>
              <a:ea typeface="Noto Sans" panose="020B0502040504020204" pitchFamily="34" charset="0"/>
              <a:cs typeface="Noto Sans Thai" panose="020B0502040504020204" pitchFamily="34" charset="-34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6400800" y="15544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31837"/>
                </a:solidFill>
                <a:latin typeface="Noto Sans Thai" panose="020B0502040504020204" pitchFamily="34" charset="-34"/>
                <a:ea typeface="Noto Sans" panose="020B0502040504020204" pitchFamily="34" charset="0"/>
                <a:cs typeface="Noto Sans Thai" panose="020B0502040504020204" pitchFamily="34" charset="-34"/>
              </a:rPr>
              <a:t>R</a:t>
            </a:r>
            <a:endParaRPr lang="en-US" sz="2200" dirty="0">
              <a:latin typeface="Noto Sans Thai" panose="020B0502040504020204" pitchFamily="34" charset="-34"/>
              <a:ea typeface="Noto Sans" panose="020B0502040504020204" pitchFamily="34" charset="0"/>
              <a:cs typeface="Noto Sans Thai" panose="020B0502040504020204" pitchFamily="34" charset="-34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6752891" y="1554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2F6C"/>
                </a:solidFill>
                <a:latin typeface="Noto Sans Thai" panose="020B0502040504020204" pitchFamily="34" charset="-34"/>
                <a:ea typeface="Noto Sans" panose="020B0502040504020204" pitchFamily="34" charset="0"/>
                <a:cs typeface="Noto Sans Thai" panose="020B0502040504020204" pitchFamily="34" charset="-34"/>
              </a:rPr>
              <a:t>Responsiveness</a:t>
            </a:r>
            <a:endParaRPr lang="en-US" sz="1600" dirty="0">
              <a:latin typeface="Noto Sans Thai" panose="020B0502040504020204" pitchFamily="34" charset="-34"/>
              <a:ea typeface="Noto Sans" panose="020B0502040504020204" pitchFamily="34" charset="0"/>
              <a:cs typeface="Noto Sans Thai" panose="020B0502040504020204" pitchFamily="34" charset="-34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6400800" y="201168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Noto Sans Thai" panose="020B0502040504020204" pitchFamily="34" charset="-34"/>
                <a:ea typeface="Noto Sans" panose="020B0502040504020204" pitchFamily="34" charset="0"/>
                <a:cs typeface="Noto Sans Thai" panose="020B0502040504020204" pitchFamily="34" charset="-34"/>
              </a:rPr>
              <a:t>ตอบสนองต่อคำขอหรือข้อร้องเรียนอย่างรวดเร็ว ตรงเวลา และกระตือรือร้น</a:t>
            </a:r>
            <a:endParaRPr lang="en-US" sz="1200" dirty="0">
              <a:latin typeface="Noto Sans Thai" panose="020B0502040504020204" pitchFamily="34" charset="-34"/>
              <a:ea typeface="Noto Sans" panose="020B0502040504020204" pitchFamily="34" charset="0"/>
              <a:cs typeface="Noto Sans Thai" panose="020B0502040504020204" pitchFamily="34" charset="-34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8961120" y="1463040"/>
            <a:ext cx="2468880" cy="2011680"/>
          </a:xfrm>
          <a:prstGeom prst="roundRect">
            <a:avLst>
              <a:gd name="adj" fmla="val 2273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th-TH">
              <a:latin typeface="Noto Sans Thai" panose="020B0502040504020204" pitchFamily="34" charset="-34"/>
              <a:ea typeface="Noto Sans" panose="020B0502040504020204" pitchFamily="34" charset="0"/>
              <a:cs typeface="Noto Sans Thai" panose="020B0502040504020204" pitchFamily="34" charset="-34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9144000" y="15544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31837"/>
                </a:solidFill>
                <a:latin typeface="Noto Sans Thai" panose="020B0502040504020204" pitchFamily="34" charset="-34"/>
                <a:ea typeface="Noto Sans" panose="020B0502040504020204" pitchFamily="34" charset="0"/>
                <a:cs typeface="Noto Sans Thai" panose="020B0502040504020204" pitchFamily="34" charset="-34"/>
              </a:rPr>
              <a:t>V</a:t>
            </a:r>
            <a:endParaRPr lang="en-US" sz="2200" dirty="0">
              <a:latin typeface="Noto Sans Thai" panose="020B0502040504020204" pitchFamily="34" charset="-34"/>
              <a:ea typeface="Noto Sans" panose="020B0502040504020204" pitchFamily="34" charset="0"/>
              <a:cs typeface="Noto Sans Thai" panose="020B0502040504020204" pitchFamily="34" charset="-34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9692639" y="1554480"/>
            <a:ext cx="192024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2F6C"/>
                </a:solidFill>
                <a:latin typeface="Noto Sans Thai" panose="020B0502040504020204" pitchFamily="34" charset="-34"/>
                <a:ea typeface="Noto Sans" panose="020B0502040504020204" pitchFamily="34" charset="0"/>
                <a:cs typeface="Noto Sans Thai" panose="020B0502040504020204" pitchFamily="34" charset="-34"/>
              </a:rPr>
              <a:t>Value Creation</a:t>
            </a:r>
            <a:endParaRPr lang="en-US" sz="1600" dirty="0">
              <a:latin typeface="Noto Sans Thai" panose="020B0502040504020204" pitchFamily="34" charset="-34"/>
              <a:ea typeface="Noto Sans" panose="020B0502040504020204" pitchFamily="34" charset="0"/>
              <a:cs typeface="Noto Sans Thai" panose="020B0502040504020204" pitchFamily="34" charset="-34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9144000" y="201168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Noto Sans Thai" panose="020B0502040504020204" pitchFamily="34" charset="-34"/>
                <a:ea typeface="Noto Sans" panose="020B0502040504020204" pitchFamily="34" charset="0"/>
                <a:cs typeface="Noto Sans Thai" panose="020B0502040504020204" pitchFamily="34" charset="-34"/>
              </a:rPr>
              <a:t>สร้างคุณค่าเพิ่มเติมและความประทับใจในทุกการส่งมอบสินค้าและบริการ</a:t>
            </a:r>
            <a:endParaRPr lang="en-US" sz="1200" dirty="0">
              <a:latin typeface="Noto Sans Thai" panose="020B0502040504020204" pitchFamily="34" charset="-34"/>
              <a:ea typeface="Noto Sans" panose="020B0502040504020204" pitchFamily="34" charset="0"/>
              <a:cs typeface="Noto Sans Thai" panose="020B0502040504020204" pitchFamily="34" charset="-34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731520" y="3657600"/>
            <a:ext cx="3383280" cy="2011680"/>
          </a:xfrm>
          <a:prstGeom prst="roundRect">
            <a:avLst>
              <a:gd name="adj" fmla="val 2273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th-TH">
              <a:latin typeface="Noto Sans Thai" panose="020B0502040504020204" pitchFamily="34" charset="-34"/>
              <a:ea typeface="Noto Sans" panose="020B0502040504020204" pitchFamily="34" charset="0"/>
              <a:cs typeface="Noto Sans Thai" panose="020B0502040504020204" pitchFamily="34" charset="-34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1005840" y="37490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31837"/>
                </a:solidFill>
                <a:latin typeface="Noto Sans Thai" panose="020B0502040504020204" pitchFamily="34" charset="-34"/>
                <a:ea typeface="Noto Sans" panose="020B0502040504020204" pitchFamily="34" charset="0"/>
                <a:cs typeface="Noto Sans Thai" panose="020B0502040504020204" pitchFamily="34" charset="-34"/>
              </a:rPr>
              <a:t>I</a:t>
            </a:r>
            <a:endParaRPr lang="en-US" sz="2200" dirty="0">
              <a:latin typeface="Noto Sans Thai" panose="020B0502040504020204" pitchFamily="34" charset="-34"/>
              <a:ea typeface="Noto Sans" panose="020B0502040504020204" pitchFamily="34" charset="0"/>
              <a:cs typeface="Noto Sans Thai" panose="020B0502040504020204" pitchFamily="34" charset="-34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1554480" y="37490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2F6C"/>
                </a:solidFill>
                <a:latin typeface="Noto Sans Thai" panose="020B0502040504020204" pitchFamily="34" charset="-34"/>
                <a:ea typeface="Noto Sans" panose="020B0502040504020204" pitchFamily="34" charset="0"/>
                <a:cs typeface="Noto Sans Thai" panose="020B0502040504020204" pitchFamily="34" charset="-34"/>
              </a:rPr>
              <a:t>Integrity</a:t>
            </a:r>
            <a:endParaRPr lang="en-US" sz="1600" dirty="0">
              <a:latin typeface="Noto Sans Thai" panose="020B0502040504020204" pitchFamily="34" charset="-34"/>
              <a:ea typeface="Noto Sans" panose="020B0502040504020204" pitchFamily="34" charset="0"/>
              <a:cs typeface="Noto Sans Thai" panose="020B0502040504020204" pitchFamily="34" charset="-34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1005840" y="420624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Noto Sans Thai" panose="020B0502040504020204" pitchFamily="34" charset="-34"/>
                <a:ea typeface="Noto Sans" panose="020B0502040504020204" pitchFamily="34" charset="0"/>
                <a:cs typeface="Noto Sans Thai" panose="020B0502040504020204" pitchFamily="34" charset="-34"/>
              </a:rPr>
              <a:t>ให้บริการด้วยความซื่อสัตย์ โปร่งใส รักษาคำสัญญา และยึดมั่นในจรรยาบรรณธุรกิจ</a:t>
            </a:r>
            <a:endParaRPr lang="en-US" sz="1300" dirty="0">
              <a:latin typeface="Noto Sans Thai" panose="020B0502040504020204" pitchFamily="34" charset="-34"/>
              <a:ea typeface="Noto Sans" panose="020B0502040504020204" pitchFamily="34" charset="0"/>
              <a:cs typeface="Noto Sans Thai" panose="020B0502040504020204" pitchFamily="34" charset="-34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4389120" y="3657600"/>
            <a:ext cx="3383280" cy="2011680"/>
          </a:xfrm>
          <a:prstGeom prst="roundRect">
            <a:avLst>
              <a:gd name="adj" fmla="val 2273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th-TH">
              <a:latin typeface="Noto Sans Thai" panose="020B0502040504020204" pitchFamily="34" charset="-34"/>
              <a:ea typeface="Noto Sans" panose="020B0502040504020204" pitchFamily="34" charset="0"/>
              <a:cs typeface="Noto Sans Thai" panose="020B0502040504020204" pitchFamily="34" charset="-34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4663440" y="37490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31837"/>
                </a:solidFill>
                <a:latin typeface="Noto Sans Thai" panose="020B0502040504020204" pitchFamily="34" charset="-34"/>
                <a:ea typeface="Noto Sans" panose="020B0502040504020204" pitchFamily="34" charset="0"/>
                <a:cs typeface="Noto Sans Thai" panose="020B0502040504020204" pitchFamily="34" charset="-34"/>
              </a:rPr>
              <a:t>C</a:t>
            </a:r>
            <a:endParaRPr lang="en-US" sz="2200" dirty="0">
              <a:latin typeface="Noto Sans Thai" panose="020B0502040504020204" pitchFamily="34" charset="-34"/>
              <a:ea typeface="Noto Sans" panose="020B0502040504020204" pitchFamily="34" charset="0"/>
              <a:cs typeface="Noto Sans Thai" panose="020B0502040504020204" pitchFamily="34" charset="-34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5212080" y="37490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2F6C"/>
                </a:solidFill>
                <a:latin typeface="Noto Sans Thai" panose="020B0502040504020204" pitchFamily="34" charset="-34"/>
                <a:ea typeface="Noto Sans" panose="020B0502040504020204" pitchFamily="34" charset="0"/>
                <a:cs typeface="Noto Sans Thai" panose="020B0502040504020204" pitchFamily="34" charset="-34"/>
              </a:rPr>
              <a:t>Customer Centricity</a:t>
            </a:r>
            <a:endParaRPr lang="en-US" sz="1600" dirty="0">
              <a:latin typeface="Noto Sans Thai" panose="020B0502040504020204" pitchFamily="34" charset="-34"/>
              <a:ea typeface="Noto Sans" panose="020B0502040504020204" pitchFamily="34" charset="0"/>
              <a:cs typeface="Noto Sans Thai" panose="020B0502040504020204" pitchFamily="34" charset="-34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4663440" y="420624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Noto Sans Thai" panose="020B0502040504020204" pitchFamily="34" charset="-34"/>
                <a:ea typeface="Noto Sans" panose="020B0502040504020204" pitchFamily="34" charset="0"/>
                <a:cs typeface="Noto Sans Thai" panose="020B0502040504020204" pitchFamily="34" charset="-34"/>
              </a:rPr>
              <a:t>ยึดความพึงพอใจของลูกค้าคู่ค้าหน้าร้านเป็นศูนย์กลางและทิศทางในการแก้ปัญหา</a:t>
            </a:r>
            <a:endParaRPr lang="en-US" sz="1300" dirty="0">
              <a:latin typeface="Noto Sans Thai" panose="020B0502040504020204" pitchFamily="34" charset="-34"/>
              <a:ea typeface="Noto Sans" panose="020B0502040504020204" pitchFamily="34" charset="0"/>
              <a:cs typeface="Noto Sans Thai" panose="020B0502040504020204" pitchFamily="34" charset="-34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8046720" y="3657600"/>
            <a:ext cx="3383280" cy="2011680"/>
          </a:xfrm>
          <a:prstGeom prst="roundRect">
            <a:avLst>
              <a:gd name="adj" fmla="val 2273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th-TH">
              <a:latin typeface="Noto Sans Thai" panose="020B0502040504020204" pitchFamily="34" charset="-34"/>
              <a:ea typeface="Noto Sans" panose="020B0502040504020204" pitchFamily="34" charset="0"/>
              <a:cs typeface="Noto Sans Thai" panose="020B0502040504020204" pitchFamily="34" charset="-34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8321040" y="37490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31837"/>
                </a:solidFill>
                <a:latin typeface="Noto Sans Thai" panose="020B0502040504020204" pitchFamily="34" charset="-34"/>
                <a:ea typeface="Noto Sans" panose="020B0502040504020204" pitchFamily="34" charset="0"/>
                <a:cs typeface="Noto Sans Thai" panose="020B0502040504020204" pitchFamily="34" charset="-34"/>
              </a:rPr>
              <a:t>E</a:t>
            </a:r>
            <a:endParaRPr lang="en-US" sz="2200" dirty="0">
              <a:latin typeface="Noto Sans Thai" panose="020B0502040504020204" pitchFamily="34" charset="-34"/>
              <a:ea typeface="Noto Sans" panose="020B0502040504020204" pitchFamily="34" charset="0"/>
              <a:cs typeface="Noto Sans Thai" panose="020B0502040504020204" pitchFamily="34" charset="-34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8869680" y="37490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2F6C"/>
                </a:solidFill>
                <a:latin typeface="Noto Sans Thai" panose="020B0502040504020204" pitchFamily="34" charset="-34"/>
                <a:ea typeface="Noto Sans" panose="020B0502040504020204" pitchFamily="34" charset="0"/>
                <a:cs typeface="Noto Sans Thai" panose="020B0502040504020204" pitchFamily="34" charset="-34"/>
              </a:rPr>
              <a:t>Exceed Expectations</a:t>
            </a:r>
            <a:endParaRPr lang="en-US" sz="1600" dirty="0">
              <a:latin typeface="Noto Sans Thai" panose="020B0502040504020204" pitchFamily="34" charset="-34"/>
              <a:ea typeface="Noto Sans" panose="020B0502040504020204" pitchFamily="34" charset="0"/>
              <a:cs typeface="Noto Sans Thai" panose="020B0502040504020204" pitchFamily="34" charset="-34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8321040" y="420624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Noto Sans Thai" panose="020B0502040504020204" pitchFamily="34" charset="-34"/>
                <a:ea typeface="Noto Sans" panose="020B0502040504020204" pitchFamily="34" charset="0"/>
                <a:cs typeface="Noto Sans Thai" panose="020B0502040504020204" pitchFamily="34" charset="-34"/>
              </a:rPr>
              <a:t>บริการเหนือระดับด้วยใจเชิงรุก คิดเผื่อและช่วยแก้ไขปัญหาก่อนที่ร้านค้าจะเผชิญ (Yatte Minahare)</a:t>
            </a:r>
            <a:endParaRPr lang="en-US" sz="1300" dirty="0">
              <a:latin typeface="Noto Sans Thai" panose="020B0502040504020204" pitchFamily="34" charset="-34"/>
              <a:ea typeface="Noto Sans" panose="020B0502040504020204" pitchFamily="34" charset="0"/>
              <a:cs typeface="Noto Sans Thai" panose="020B0502040504020204" pitchFamily="34" charset="-3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2F6C"/>
                </a:solidFill>
                <a:latin typeface="Noto Sans Thai" panose="020B0502040504020204" pitchFamily="34" charset="-34"/>
                <a:ea typeface="Cambria" pitchFamily="34" charset="-122"/>
                <a:cs typeface="Noto Sans Thai" panose="020B0502040504020204" pitchFamily="34" charset="-34"/>
              </a:rPr>
              <a:t>แนวปฏิบัติสำคัญสำหรับการบริการ ณ หน้างาน (Gemba)</a:t>
            </a:r>
            <a:endParaRPr lang="en-US" sz="2800" dirty="0">
              <a:latin typeface="Noto Sans Thai" panose="020B0502040504020204" pitchFamily="34" charset="-34"/>
              <a:cs typeface="Noto Sans Thai" panose="020B0502040504020204" pitchFamily="34" charset="-34"/>
            </a:endParaRPr>
          </a:p>
        </p:txBody>
      </p:sp>
      <p:sp>
        <p:nvSpPr>
          <p:cNvPr id="4" name="Shape 1"/>
          <p:cNvSpPr/>
          <p:nvPr/>
        </p:nvSpPr>
        <p:spPr>
          <a:xfrm>
            <a:off x="731520" y="1463040"/>
            <a:ext cx="3383280" cy="4389120"/>
          </a:xfrm>
          <a:prstGeom prst="roundRect">
            <a:avLst>
              <a:gd name="adj" fmla="val 1351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th-TH">
              <a:latin typeface="Noto Sans Thai" panose="020B0502040504020204" pitchFamily="34" charset="-34"/>
              <a:cs typeface="Noto Sans Thai" panose="020B0502040504020204" pitchFamily="34" charset="-34"/>
            </a:endParaRPr>
          </a:p>
        </p:txBody>
      </p:sp>
      <p:sp>
        <p:nvSpPr>
          <p:cNvPr id="5" name="Text 2"/>
          <p:cNvSpPr/>
          <p:nvPr/>
        </p:nvSpPr>
        <p:spPr>
          <a:xfrm>
            <a:off x="1005840" y="17373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4B87"/>
                </a:solidFill>
                <a:latin typeface="Noto Sans Thai" panose="020B0502040504020204" pitchFamily="34" charset="-34"/>
                <a:ea typeface="Cambria" pitchFamily="34" charset="-122"/>
                <a:cs typeface="Noto Sans Thai" panose="020B0502040504020204" pitchFamily="34" charset="-34"/>
              </a:rPr>
              <a:t>1. การเตรียมความพร้อม</a:t>
            </a:r>
            <a:endParaRPr lang="en-US" sz="1800" dirty="0">
              <a:latin typeface="Noto Sans Thai" panose="020B0502040504020204" pitchFamily="34" charset="-34"/>
              <a:cs typeface="Noto Sans Thai" panose="020B0502040504020204" pitchFamily="34" charset="-34"/>
            </a:endParaRPr>
          </a:p>
        </p:txBody>
      </p:sp>
      <p:sp>
        <p:nvSpPr>
          <p:cNvPr id="6" name="Text 3"/>
          <p:cNvSpPr/>
          <p:nvPr/>
        </p:nvSpPr>
        <p:spPr>
          <a:xfrm>
            <a:off x="1005840" y="21031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31837"/>
                </a:solidFill>
                <a:latin typeface="Noto Sans Thai" panose="020B0502040504020204" pitchFamily="34" charset="-34"/>
                <a:ea typeface="Cambria" pitchFamily="34" charset="-122"/>
                <a:cs typeface="Noto Sans Thai" panose="020B0502040504020204" pitchFamily="34" charset="-34"/>
              </a:rPr>
              <a:t>ก่อนบริการ (Preparation)</a:t>
            </a:r>
            <a:endParaRPr lang="en-US" sz="1300" dirty="0">
              <a:latin typeface="Noto Sans Thai" panose="020B0502040504020204" pitchFamily="34" charset="-34"/>
              <a:cs typeface="Noto Sans Thai" panose="020B0502040504020204" pitchFamily="34" charset="-34"/>
            </a:endParaRPr>
          </a:p>
        </p:txBody>
      </p:sp>
      <p:sp>
        <p:nvSpPr>
          <p:cNvPr id="7" name="Text 4"/>
          <p:cNvSpPr/>
          <p:nvPr/>
        </p:nvSpPr>
        <p:spPr>
          <a:xfrm>
            <a:off x="1005840" y="2560320"/>
            <a:ext cx="28346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  <a:latin typeface="Noto Sans Thai" panose="020B0502040504020204" pitchFamily="34" charset="-34"/>
                <a:ea typeface="Calibri" pitchFamily="34" charset="-122"/>
                <a:cs typeface="Noto Sans Thai" panose="020B0502040504020204" pitchFamily="34" charset="-34"/>
              </a:rPr>
              <a:t>ทบทวนข้อมูลสินค้า แคมเปญ และสิทธิประโยชน์ ของร้านค้าให้แม่นยำ ล่วงหน้า</a:t>
            </a:r>
            <a:endParaRPr lang="en-US" sz="1300" dirty="0">
              <a:latin typeface="Noto Sans Thai" panose="020B0502040504020204" pitchFamily="34" charset="-34"/>
              <a:cs typeface="Noto Sans Thai" panose="020B0502040504020204" pitchFamily="34" charset="-34"/>
            </a:endParaRPr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  <a:latin typeface="Noto Sans Thai" panose="020B0502040504020204" pitchFamily="34" charset="-34"/>
                <a:ea typeface="Calibri" pitchFamily="34" charset="-122"/>
                <a:cs typeface="Noto Sans Thai" panose="020B0502040504020204" pitchFamily="34" charset="-34"/>
              </a:rPr>
              <a:t>ตรวจเช็คความถูกต้อง ของรายการจัดส่ง และเอกสาร ให้ครบถ้วน 100%</a:t>
            </a:r>
            <a:endParaRPr lang="en-US" sz="1300" dirty="0">
              <a:latin typeface="Noto Sans Thai" panose="020B0502040504020204" pitchFamily="34" charset="-34"/>
              <a:cs typeface="Noto Sans Thai" panose="020B0502040504020204" pitchFamily="34" charset="-34"/>
            </a:endParaRPr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  <a:latin typeface="Noto Sans Thai" panose="020B0502040504020204" pitchFamily="34" charset="-34"/>
                <a:ea typeface="Calibri" pitchFamily="34" charset="-122"/>
                <a:cs typeface="Noto Sans Thai" panose="020B0502040504020204" pitchFamily="34" charset="-34"/>
              </a:rPr>
              <a:t>เตรียมกายและใจ ให้พร้อม มีบุคลิกภาพ ที่สุภาพ และแจ่มใสเสมอ</a:t>
            </a:r>
            <a:endParaRPr lang="en-US" sz="1300" dirty="0">
              <a:latin typeface="Noto Sans Thai" panose="020B0502040504020204" pitchFamily="34" charset="-34"/>
              <a:cs typeface="Noto Sans Thai" panose="020B0502040504020204" pitchFamily="34" charset="-34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389120" y="1463040"/>
            <a:ext cx="3383280" cy="4389120"/>
          </a:xfrm>
          <a:prstGeom prst="roundRect">
            <a:avLst>
              <a:gd name="adj" fmla="val 1351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th-TH">
              <a:latin typeface="Noto Sans Thai" panose="020B0502040504020204" pitchFamily="34" charset="-34"/>
              <a:cs typeface="Noto Sans Thai" panose="020B0502040504020204" pitchFamily="34" charset="-34"/>
            </a:endParaRPr>
          </a:p>
        </p:txBody>
      </p:sp>
      <p:sp>
        <p:nvSpPr>
          <p:cNvPr id="9" name="Text 6"/>
          <p:cNvSpPr/>
          <p:nvPr/>
        </p:nvSpPr>
        <p:spPr>
          <a:xfrm>
            <a:off x="4663440" y="17373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4B87"/>
                </a:solidFill>
                <a:latin typeface="Noto Sans Thai" panose="020B0502040504020204" pitchFamily="34" charset="-34"/>
                <a:ea typeface="Cambria" pitchFamily="34" charset="-122"/>
                <a:cs typeface="Noto Sans Thai" panose="020B0502040504020204" pitchFamily="34" charset="-34"/>
              </a:rPr>
              <a:t>2. ปฏิบัติงานเชิงรุกหน้าร้าน</a:t>
            </a:r>
            <a:endParaRPr lang="en-US" sz="1800" dirty="0">
              <a:latin typeface="Noto Sans Thai" panose="020B0502040504020204" pitchFamily="34" charset="-34"/>
              <a:cs typeface="Noto Sans Thai" panose="020B0502040504020204" pitchFamily="34" charset="-34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663440" y="21031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31837"/>
                </a:solidFill>
                <a:latin typeface="Noto Sans Thai" panose="020B0502040504020204" pitchFamily="34" charset="-34"/>
                <a:ea typeface="Cambria" pitchFamily="34" charset="-122"/>
                <a:cs typeface="Noto Sans Thai" panose="020B0502040504020204" pitchFamily="34" charset="-34"/>
              </a:rPr>
              <a:t>ระหว่างบริการ (Execution)</a:t>
            </a:r>
            <a:endParaRPr lang="en-US" sz="1300" dirty="0">
              <a:latin typeface="Noto Sans Thai" panose="020B0502040504020204" pitchFamily="34" charset="-34"/>
              <a:cs typeface="Noto Sans Thai" panose="020B0502040504020204" pitchFamily="34" charset="-34"/>
            </a:endParaRPr>
          </a:p>
        </p:txBody>
      </p:sp>
      <p:sp>
        <p:nvSpPr>
          <p:cNvPr id="11" name="Text 8"/>
          <p:cNvSpPr/>
          <p:nvPr/>
        </p:nvSpPr>
        <p:spPr>
          <a:xfrm>
            <a:off x="4663440" y="2560320"/>
            <a:ext cx="28346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  <a:latin typeface="Noto Sans Thai" panose="020B0502040504020204" pitchFamily="34" charset="-34"/>
                <a:ea typeface="Calibri" pitchFamily="34" charset="-122"/>
                <a:cs typeface="Noto Sans Thai" panose="020B0502040504020204" pitchFamily="34" charset="-34"/>
              </a:rPr>
              <a:t>ทักทายด้วยรอยยิ้ม อย่างเป็นมิตร สุภาพเรียบร้อย ในทุกสถานการณ์</a:t>
            </a:r>
            <a:endParaRPr lang="en-US" sz="1300" dirty="0">
              <a:latin typeface="Noto Sans Thai" panose="020B0502040504020204" pitchFamily="34" charset="-34"/>
              <a:cs typeface="Noto Sans Thai" panose="020B0502040504020204" pitchFamily="34" charset="-34"/>
            </a:endParaRPr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  <a:latin typeface="Noto Sans Thai" panose="020B0502040504020204" pitchFamily="34" charset="-34"/>
                <a:ea typeface="Calibri" pitchFamily="34" charset="-122"/>
                <a:cs typeface="Noto Sans Thai" panose="020B0502040504020204" pitchFamily="34" charset="-34"/>
              </a:rPr>
              <a:t>สังเกตพื้นที่ขาย หน้าร้าน รับฟังความกังวล หรือปัญหาของร้านค้า อย่างตั้งใจ</a:t>
            </a:r>
            <a:endParaRPr lang="en-US" sz="1300" dirty="0">
              <a:latin typeface="Noto Sans Thai" panose="020B0502040504020204" pitchFamily="34" charset="-34"/>
              <a:cs typeface="Noto Sans Thai" panose="020B0502040504020204" pitchFamily="34" charset="-34"/>
            </a:endParaRPr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  <a:latin typeface="Noto Sans Thai" panose="020B0502040504020204" pitchFamily="34" charset="-34"/>
                <a:ea typeface="Calibri" pitchFamily="34" charset="-122"/>
                <a:cs typeface="Noto Sans Thai" panose="020B0502040504020204" pitchFamily="34" charset="-34"/>
              </a:rPr>
              <a:t>เมื่อมีปัญหาหน้างาน ให้แก้ไขอย่างรวดเร็ว มีระเบียบ และมีสติ เป็นสำคัญ</a:t>
            </a:r>
            <a:endParaRPr lang="en-US" sz="1300" dirty="0">
              <a:latin typeface="Noto Sans Thai" panose="020B0502040504020204" pitchFamily="34" charset="-34"/>
              <a:cs typeface="Noto Sans Thai" panose="020B0502040504020204" pitchFamily="34" charset="-34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8046720" y="1463040"/>
            <a:ext cx="3383280" cy="4389120"/>
          </a:xfrm>
          <a:prstGeom prst="roundRect">
            <a:avLst>
              <a:gd name="adj" fmla="val 1351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th-TH">
              <a:latin typeface="Noto Sans Thai" panose="020B0502040504020204" pitchFamily="34" charset="-34"/>
              <a:cs typeface="Noto Sans Thai" panose="020B0502040504020204" pitchFamily="34" charset="-34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8321040" y="17373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4B87"/>
                </a:solidFill>
                <a:latin typeface="Noto Sans Thai" panose="020B0502040504020204" pitchFamily="34" charset="-34"/>
                <a:ea typeface="Cambria" pitchFamily="34" charset="-122"/>
                <a:cs typeface="Noto Sans Thai" panose="020B0502040504020204" pitchFamily="34" charset="-34"/>
              </a:rPr>
              <a:t>3. ติดตามและนำมาปรับปรุง</a:t>
            </a:r>
            <a:endParaRPr lang="en-US" sz="1800" dirty="0">
              <a:latin typeface="Noto Sans Thai" panose="020B0502040504020204" pitchFamily="34" charset="-34"/>
              <a:cs typeface="Noto Sans Thai" panose="020B0502040504020204" pitchFamily="34" charset="-34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8321040" y="21031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31837"/>
                </a:solidFill>
                <a:latin typeface="Noto Sans Thai" panose="020B0502040504020204" pitchFamily="34" charset="-34"/>
                <a:ea typeface="Cambria" pitchFamily="34" charset="-122"/>
                <a:cs typeface="Noto Sans Thai" panose="020B0502040504020204" pitchFamily="34" charset="-34"/>
              </a:rPr>
              <a:t>หลังบริการ (Follow-up)</a:t>
            </a:r>
            <a:endParaRPr lang="en-US" sz="1300" dirty="0">
              <a:latin typeface="Noto Sans Thai" panose="020B0502040504020204" pitchFamily="34" charset="-34"/>
              <a:cs typeface="Noto Sans Thai" panose="020B0502040504020204" pitchFamily="34" charset="-34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8321040" y="2560320"/>
            <a:ext cx="28346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  <a:latin typeface="Noto Sans Thai" panose="020B0502040504020204" pitchFamily="34" charset="-34"/>
                <a:ea typeface="Calibri" pitchFamily="34" charset="-122"/>
                <a:cs typeface="Noto Sans Thai" panose="020B0502040504020204" pitchFamily="34" charset="-34"/>
              </a:rPr>
              <a:t>ทบทวนและตรวจสอบ ความพึงพอใจ กับลูกค้า ทันทีหลังได้รับ การบริการ</a:t>
            </a:r>
            <a:endParaRPr lang="en-US" sz="1300" dirty="0">
              <a:latin typeface="Noto Sans Thai" panose="020B0502040504020204" pitchFamily="34" charset="-34"/>
              <a:cs typeface="Noto Sans Thai" panose="020B0502040504020204" pitchFamily="34" charset="-34"/>
            </a:endParaRPr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  <a:latin typeface="Noto Sans Thai" panose="020B0502040504020204" pitchFamily="34" charset="-34"/>
                <a:ea typeface="Calibri" pitchFamily="34" charset="-122"/>
                <a:cs typeface="Noto Sans Thai" panose="020B0502040504020204" pitchFamily="34" charset="-34"/>
              </a:rPr>
              <a:t>บันทึกและส่งต่อ ปัญหาหรือข้อเสนอแนะ หน้างาน ไปยังฝ่ายที่เกี่ยวข้อง ทันที</a:t>
            </a:r>
            <a:endParaRPr lang="en-US" sz="1300" dirty="0">
              <a:latin typeface="Noto Sans Thai" panose="020B0502040504020204" pitchFamily="34" charset="-34"/>
              <a:cs typeface="Noto Sans Thai" panose="020B0502040504020204" pitchFamily="34" charset="-34"/>
            </a:endParaRPr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  <a:latin typeface="Noto Sans Thai" panose="020B0502040504020204" pitchFamily="34" charset="-34"/>
                <a:ea typeface="Calibri" pitchFamily="34" charset="-122"/>
                <a:cs typeface="Noto Sans Thai" panose="020B0502040504020204" pitchFamily="34" charset="-34"/>
              </a:rPr>
              <a:t>ถอดบทเรียน จากปัญหาหน้างาน เพื่อหาแนวทาง ป้องกันไม่ให้เกิดซ้ำ</a:t>
            </a:r>
            <a:endParaRPr lang="en-US" sz="1300" dirty="0">
              <a:latin typeface="Noto Sans Thai" panose="020B0502040504020204" pitchFamily="34" charset="-34"/>
              <a:cs typeface="Noto Sans Thai" panose="020B0502040504020204" pitchFamily="34" charset="-3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16361" y="633481"/>
            <a:ext cx="5669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1"/>
                </a:solidFill>
                <a:latin typeface="Noto Sans Thai" panose="020B0502040504020204" pitchFamily="34" charset="-34"/>
                <a:ea typeface="Noto Sans" panose="020B0502040504020204" pitchFamily="34" charset="0"/>
                <a:cs typeface="Noto Sans Thai" panose="020B0502040504020204" pitchFamily="34" charset="-34"/>
              </a:rPr>
              <a:t>ส่งมอบความประทับใจในทุกแก้ว</a:t>
            </a:r>
            <a:endParaRPr lang="en-US" sz="3200" dirty="0">
              <a:solidFill>
                <a:schemeClr val="accent1"/>
              </a:solidFill>
              <a:latin typeface="Noto Sans Thai" panose="020B0502040504020204" pitchFamily="34" charset="-34"/>
              <a:ea typeface="Noto Sans" panose="020B0502040504020204" pitchFamily="34" charset="0"/>
              <a:cs typeface="Noto Sans Thai" panose="020B0502040504020204" pitchFamily="34" charset="-34"/>
            </a:endParaRPr>
          </a:p>
          <a:p>
            <a:pPr marL="0" indent="0">
              <a:buNone/>
            </a:pPr>
            <a:r>
              <a:rPr lang="en-US" sz="3200" b="1" dirty="0">
                <a:solidFill>
                  <a:schemeClr val="accent1"/>
                </a:solidFill>
                <a:latin typeface="Noto Sans Thai" panose="020B0502040504020204" pitchFamily="34" charset="-34"/>
                <a:ea typeface="Noto Sans" panose="020B0502040504020204" pitchFamily="34" charset="0"/>
                <a:cs typeface="Noto Sans Thai" panose="020B0502040504020204" pitchFamily="34" charset="-34"/>
              </a:rPr>
              <a:t>เติบโตไปด้วยกันอย่างยั่งยืน</a:t>
            </a:r>
            <a:endParaRPr lang="en-US" sz="3200" dirty="0">
              <a:solidFill>
                <a:schemeClr val="accent1"/>
              </a:solidFill>
              <a:latin typeface="Noto Sans Thai" panose="020B0502040504020204" pitchFamily="34" charset="-34"/>
              <a:ea typeface="Noto Sans" panose="020B0502040504020204" pitchFamily="34" charset="0"/>
              <a:cs typeface="Noto Sans Thai" panose="020B0502040504020204" pitchFamily="34" charset="-34"/>
            </a:endParaRPr>
          </a:p>
        </p:txBody>
      </p:sp>
      <p:sp>
        <p:nvSpPr>
          <p:cNvPr id="4" name="Text 1"/>
          <p:cNvSpPr/>
          <p:nvPr/>
        </p:nvSpPr>
        <p:spPr>
          <a:xfrm>
            <a:off x="816361" y="2331720"/>
            <a:ext cx="5669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accent1"/>
                </a:solidFill>
                <a:latin typeface="Noto Sans Thai" panose="020B0502040504020204" pitchFamily="34" charset="-34"/>
                <a:ea typeface="Noto Sans" panose="020B0502040504020204" pitchFamily="34" charset="0"/>
                <a:cs typeface="Noto Sans Thai" panose="020B0502040504020204" pitchFamily="34" charset="-34"/>
              </a:rPr>
              <a:t>Service Mind ของพนักงาน SPBT ทุกคน คือหัวใจสำคัญ ที่จะช่วยผลักดัน ให้เราบรรลุวิสัยทัศน์</a:t>
            </a:r>
          </a:p>
          <a:p>
            <a:pPr marL="0" indent="0">
              <a:buNone/>
            </a:pPr>
            <a:endParaRPr lang="en-US" sz="1500" dirty="0">
              <a:solidFill>
                <a:schemeClr val="accent1"/>
              </a:solidFill>
              <a:latin typeface="Noto Sans Thai" panose="020B0502040504020204" pitchFamily="34" charset="-34"/>
              <a:ea typeface="Noto Sans" panose="020B0502040504020204" pitchFamily="34" charset="0"/>
              <a:cs typeface="Noto Sans Thai" panose="020B0502040504020204" pitchFamily="34" charset="-34"/>
            </a:endParaRPr>
          </a:p>
          <a:p>
            <a:pPr marL="0" indent="0">
              <a:buNone/>
            </a:pPr>
            <a:r>
              <a:rPr lang="en-US" sz="1500" dirty="0">
                <a:solidFill>
                  <a:schemeClr val="accent1"/>
                </a:solidFill>
                <a:latin typeface="Noto Sans Thai" panose="020B0502040504020204" pitchFamily="34" charset="-34"/>
                <a:ea typeface="Noto Sans" panose="020B0502040504020204" pitchFamily="34" charset="0"/>
                <a:cs typeface="Noto Sans Thai" panose="020B0502040504020204" pitchFamily="34" charset="-34"/>
              </a:rPr>
              <a:t>"The Most Beloved Beverage Company in Thailand with True Gemba Centricity"</a:t>
            </a:r>
          </a:p>
          <a:p>
            <a:pPr marL="0" indent="0">
              <a:buNone/>
            </a:pPr>
            <a:endParaRPr lang="en-US" sz="1500" dirty="0">
              <a:solidFill>
                <a:schemeClr val="accent1"/>
              </a:solidFill>
              <a:latin typeface="Noto Sans Thai" panose="020B0502040504020204" pitchFamily="34" charset="-34"/>
              <a:ea typeface="Noto Sans" panose="020B0502040504020204" pitchFamily="34" charset="0"/>
              <a:cs typeface="Noto Sans Thai" panose="020B0502040504020204" pitchFamily="34" charset="-34"/>
            </a:endParaRPr>
          </a:p>
          <a:p>
            <a:pPr marL="0" indent="0">
              <a:buNone/>
            </a:pPr>
            <a:r>
              <a:rPr lang="en-US" sz="1500" dirty="0">
                <a:solidFill>
                  <a:schemeClr val="accent1"/>
                </a:solidFill>
                <a:latin typeface="Noto Sans Thai" panose="020B0502040504020204" pitchFamily="34" charset="-34"/>
                <a:ea typeface="Noto Sans" panose="020B0502040504020204" pitchFamily="34" charset="0"/>
                <a:cs typeface="Noto Sans Thai" panose="020B0502040504020204" pitchFamily="34" charset="-34"/>
              </a:rPr>
              <a:t>ความใส่ใจ ความรวดเร็ว และความเป็นมืออาชีพ ของท่านในวันนี้ คืออนาคตที่ยั่งยืน ของธุรกิจเรา</a:t>
            </a:r>
          </a:p>
        </p:txBody>
      </p:sp>
      <p:sp>
        <p:nvSpPr>
          <p:cNvPr id="5" name="Text 2"/>
          <p:cNvSpPr/>
          <p:nvPr/>
        </p:nvSpPr>
        <p:spPr>
          <a:xfrm>
            <a:off x="816361" y="452628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  <a:latin typeface="Noto Sans Thai" panose="020B0502040504020204" pitchFamily="34" charset="-34"/>
                <a:ea typeface="Noto Sans" panose="020B0502040504020204" pitchFamily="34" charset="0"/>
                <a:cs typeface="Noto Sans Thai" panose="020B0502040504020204" pitchFamily="34" charset="-34"/>
              </a:rPr>
              <a:t>มาร่วมกันส่งมอบบริการที่ยอดเยี่ยม ณ Gemba ตั้งแต่วันนี้!</a:t>
            </a:r>
            <a:endParaRPr lang="en-US" sz="1800" dirty="0">
              <a:solidFill>
                <a:schemeClr val="accent1"/>
              </a:solidFill>
              <a:latin typeface="Noto Sans Thai" panose="020B0502040504020204" pitchFamily="34" charset="-34"/>
              <a:ea typeface="Noto Sans" panose="020B0502040504020204" pitchFamily="34" charset="0"/>
              <a:cs typeface="Noto Sans Thai" panose="020B0502040504020204" pitchFamily="34" charset="-34"/>
            </a:endParaRPr>
          </a:p>
        </p:txBody>
      </p:sp>
      <p:pic>
        <p:nvPicPr>
          <p:cNvPr id="7" name="Image 0" descr="h:/AGV Project/assets/team_success.jp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03720" y="1143000"/>
            <a:ext cx="4389120" cy="43891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903720" y="4829351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718096"/>
                </a:solidFill>
                <a:latin typeface="Noto Sans Thai" panose="020B0502040504020204" pitchFamily="34" charset="-34"/>
                <a:ea typeface="Noto Sans" panose="020B0502040504020204" pitchFamily="34" charset="0"/>
                <a:cs typeface="Noto Sans Thai" panose="020B0502040504020204" pitchFamily="34" charset="-34"/>
              </a:rPr>
              <a:t>ร่วมขับเคลื่อนความสำเร็จของ SPBT ไปด้วยกัน</a:t>
            </a:r>
            <a:endParaRPr lang="en-US" sz="1400" dirty="0">
              <a:latin typeface="Noto Sans Thai" panose="020B0502040504020204" pitchFamily="34" charset="-34"/>
              <a:ea typeface="Noto Sans" panose="020B0502040504020204" pitchFamily="34" charset="0"/>
              <a:cs typeface="Noto Sans Thai" panose="020B0502040504020204" pitchFamily="34" charset="-3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</TotalTime>
  <Words>886</Words>
  <Application>Microsoft Office PowerPoint</Application>
  <PresentationFormat>Widescreen</PresentationFormat>
  <Paragraphs>89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Noto Sans Thai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Paul, Peerapol Pipatsawasdikul</cp:lastModifiedBy>
  <cp:revision>2</cp:revision>
  <dcterms:created xsi:type="dcterms:W3CDTF">2026-07-22T04:59:52Z</dcterms:created>
  <dcterms:modified xsi:type="dcterms:W3CDTF">2026-07-22T08:10:12Z</dcterms:modified>
</cp:coreProperties>
</file>